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389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41414"/>
                </a:solidFill>
              </a:defRPr>
            </a:pPr>
            <a:r>
              <a:t>Arquitetura Proposta - Importacao de NF-e com Conferencia (Mobile + Desktop)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66928"/>
            <a:ext cx="1389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64646"/>
                </a:solidFill>
              </a:defRPr>
            </a:pPr>
            <a:r>
              <a:t>Objetivo: capturar chave/XML, validar, conferir e gravar com a mesma integridade do processo atual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868680"/>
            <a:ext cx="13898880" cy="1051560"/>
          </a:xfrm>
          <a:prstGeom prst="roundRect">
            <a:avLst/>
          </a:prstGeom>
          <a:solidFill>
            <a:srgbClr val="ECF5FF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29184"/>
          <a:lstStyle/>
          <a:p>
            <a:pPr algn="ctr">
              <a:defRPr sz="900"/>
            </a:pPr>
            <a:r>
              <a:t>1) Captura (Celular/Portal): foto DANFE, leitura codigo de barras/chave, digitacao manual</a:t>
            </a:r>
          </a:p>
          <a:p>
            <a:pPr>
              <a:defRPr sz="900"/>
            </a:pPr>
            <a:r>
              <a:t>2) API Servidor: sessao da importacao, autenticacao, fila/retry, status</a:t>
            </a:r>
          </a:p>
          <a:p>
            <a:pPr>
              <a:defRPr sz="900"/>
            </a:pPr>
            <a:r>
              <a:t>3) Modulo Fiscal no Servidor: certificado A1, consulta DF-e/SEFAZ, download e validacao do XML</a:t>
            </a:r>
          </a:p>
          <a:p>
            <a:pPr>
              <a:defRPr sz="900"/>
            </a:pPr>
            <a:r>
              <a:t>4) Conferencia (staging): dados originais XML x dados convertidos para o sistema</a:t>
            </a:r>
          </a:p>
          <a:p>
            <a:pPr>
              <a:defRPr sz="900"/>
            </a:pPr>
            <a:r>
              <a:t>5) Gravacao final (Firebird): transacao unica reutilizando regras e rotinas atuais de entrada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868680"/>
            <a:ext cx="13898880" cy="301752"/>
          </a:xfrm>
          <a:prstGeom prst="rect">
            <a:avLst/>
          </a:prstGeom>
          <a:solidFill>
            <a:srgbClr val="185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Arquitetura em Camadas (recomendado)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2057400"/>
            <a:ext cx="6812280" cy="2651760"/>
          </a:xfrm>
          <a:prstGeom prst="roundRect">
            <a:avLst/>
          </a:prstGeom>
          <a:solidFill>
            <a:srgbClr val="F8FAFC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29184"/>
          <a:lstStyle/>
          <a:p>
            <a:pPr algn="ctr">
              <a:defRPr sz="900"/>
            </a:pPr>
            <a:r>
              <a:t>A) Localizacao do produto</a:t>
            </a:r>
          </a:p>
          <a:p>
            <a:pPr>
              <a:defRPr sz="900"/>
            </a:pPr>
            <a:r>
              <a:t>- Cabecalho da NF-e + status</a:t>
            </a:r>
          </a:p>
          <a:p>
            <a:pPr>
              <a:defRPr sz="900"/>
            </a:pPr>
            <a:r>
              <a:t>- Itens em cards (XML): cProd, EAN, descricao, qtd, vUnit</a:t>
            </a:r>
          </a:p>
          <a:p>
            <a:pPr>
              <a:defRPr sz="900"/>
            </a:pPr>
            <a:r>
              <a:t>- Campo de busca rapida: EAN/codigo fornecedor/descricao</a:t>
            </a:r>
          </a:p>
          <a:p>
            <a:pPr>
              <a:defRPr sz="900"/>
            </a:pPr>
          </a:p>
          <a:p>
            <a:pPr>
              <a:defRPr sz="900"/>
            </a:pPr>
            <a:r>
              <a:t>B) Vinculacao</a:t>
            </a:r>
          </a:p>
          <a:p>
            <a:pPr>
              <a:defRPr sz="900"/>
            </a:pPr>
            <a:r>
              <a:t>- Sugestao automatica por score (EAN &gt; cod fornecedor &gt; descricao)</a:t>
            </a:r>
          </a:p>
          <a:p>
            <a:pPr>
              <a:defRPr sz="900"/>
            </a:pPr>
            <a:r>
              <a:t>- Acoes: Vincular | Criar novo | Ignorar item</a:t>
            </a:r>
          </a:p>
          <a:p>
            <a:pPr>
              <a:defRPr sz="900"/>
            </a:pPr>
            <a:r>
              <a:t>- Alerta de duplicidade em tempo real</a:t>
            </a:r>
          </a:p>
          <a:p>
            <a:pPr>
              <a:defRPr sz="900"/>
            </a:pPr>
          </a:p>
          <a:p>
            <a:pPr>
              <a:defRPr sz="900"/>
            </a:pPr>
            <a:r>
              <a:t>C) Conferencia final</a:t>
            </a:r>
          </a:p>
          <a:p>
            <a:pPr>
              <a:defRPr sz="900"/>
            </a:pPr>
            <a:r>
              <a:t>- Abas: Produtos | Tributos | Financeiro | Resumo</a:t>
            </a:r>
          </a:p>
          <a:p>
            <a:pPr>
              <a:defRPr sz="900"/>
            </a:pPr>
            <a:r>
              <a:t>- Botao: Confirmar gravacao (habilita so sem pendencias criticas)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057400"/>
            <a:ext cx="6812280" cy="3017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Preview MOBILE (Celular)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2057400"/>
            <a:ext cx="6812280" cy="2651760"/>
          </a:xfrm>
          <a:prstGeom prst="roundRect">
            <a:avLst/>
          </a:prstGeom>
          <a:solidFill>
            <a:srgbClr val="F8FAFC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29184"/>
          <a:lstStyle/>
          <a:p>
            <a:pPr algn="ctr">
              <a:defRPr sz="900"/>
            </a:pPr>
            <a:r>
              <a:t>A) Localizacao do produto</a:t>
            </a:r>
          </a:p>
          <a:p>
            <a:pPr>
              <a:defRPr sz="900"/>
            </a:pPr>
            <a:r>
              <a:t>- Grid com colunas XML + filtros avancados + painel lateral de detalhe</a:t>
            </a:r>
          </a:p>
          <a:p>
            <a:pPr>
              <a:defRPr sz="900"/>
            </a:pPr>
            <a:r>
              <a:t>- Destaque para itens sem match e divergencias tributarias</a:t>
            </a:r>
          </a:p>
          <a:p>
            <a:pPr>
              <a:defRPr sz="900"/>
            </a:pPr>
          </a:p>
          <a:p>
            <a:pPr>
              <a:defRPr sz="900"/>
            </a:pPr>
            <a:r>
              <a:t>B) Vinculacao</a:t>
            </a:r>
          </a:p>
          <a:p>
            <a:pPr>
              <a:defRPr sz="900"/>
            </a:pPr>
            <a:r>
              <a:t>- Tabela lado a lado: Produto XML | Produto Sistema | Confianca | Acao</a:t>
            </a:r>
          </a:p>
          <a:p>
            <a:pPr>
              <a:defRPr sz="900"/>
            </a:pPr>
            <a:r>
              <a:t>- Operacoes em lote: vincular selecionados, criar por padrao, aplicar regra</a:t>
            </a:r>
          </a:p>
          <a:p>
            <a:pPr>
              <a:defRPr sz="900"/>
            </a:pPr>
          </a:p>
          <a:p>
            <a:pPr>
              <a:defRPr sz="900"/>
            </a:pPr>
            <a:r>
              <a:t>C) Conferencia final</a:t>
            </a:r>
          </a:p>
          <a:p>
            <a:pPr>
              <a:defRPr sz="900"/>
            </a:pPr>
            <a:r>
              <a:t>- Visao comparativa: Original NF-e x Convertido para sistema</a:t>
            </a:r>
          </a:p>
          <a:p>
            <a:pPr>
              <a:defRPr sz="900"/>
            </a:pPr>
            <a:r>
              <a:t>- Financeiro: parcelas/vencimentos editaveis com validacao</a:t>
            </a:r>
          </a:p>
          <a:p>
            <a:pPr>
              <a:defRPr sz="900"/>
            </a:pPr>
            <a:r>
              <a:t>- Checklist de bloqueios antes do commit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2057400"/>
            <a:ext cx="6812280" cy="301752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Preview DESKTOP (Portal/PC)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4892040"/>
            <a:ext cx="9326880" cy="2971800"/>
          </a:xfrm>
          <a:prstGeom prst="roundRect">
            <a:avLst/>
          </a:prstGeom>
          <a:solidFill>
            <a:srgbClr val="FCFCF2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29184"/>
          <a:lstStyle/>
          <a:p>
            <a:pPr algn="ctr">
              <a:defRPr sz="900"/>
            </a:pPr>
            <a:r>
              <a:t>Captura chave -&gt; Consulta XML -&gt; Parse/Validacao -&gt; Conferencia -&gt; Conversao -&gt; Validacoes -&gt; Commit</a:t>
            </a:r>
          </a:p>
          <a:p>
            <a:pPr>
              <a:defRPr sz="900"/>
            </a:pPr>
          </a:p>
          <a:p>
            <a:pPr>
              <a:defRPr sz="900"/>
            </a:pPr>
            <a:r>
              <a:t>Etapas no servidor (obrigatorio):</a:t>
            </a:r>
          </a:p>
          <a:p>
            <a:pPr>
              <a:defRPr sz="900"/>
            </a:pPr>
            <a:r>
              <a:t>- consulta fiscal com certificado, validacao XML/assinatura, deduplicacao por chave, gravacao Firebird</a:t>
            </a:r>
          </a:p>
          <a:p>
            <a:pPr>
              <a:defRPr sz="900"/>
            </a:pPr>
          </a:p>
          <a:p>
            <a:pPr>
              <a:defRPr sz="900"/>
            </a:pPr>
            <a:r>
              <a:t>Etapas no celular/desktop:</a:t>
            </a:r>
          </a:p>
          <a:p>
            <a:pPr>
              <a:defRPr sz="900"/>
            </a:pPr>
            <a:r>
              <a:t>- captura da chave, conferencia visual, decisao de vinculacao, confirmacao da entrada</a:t>
            </a:r>
          </a:p>
          <a:p>
            <a:pPr>
              <a:defRPr sz="900"/>
            </a:pPr>
          </a:p>
          <a:p>
            <a:pPr>
              <a:defRPr sz="900"/>
            </a:pPr>
            <a:r>
              <a:t>Tratativas: nota cancelada/denegada/inexistente, XML indisponivel (reconsulta automatica), XML invalido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4892040"/>
            <a:ext cx="9326880" cy="301752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Fluxo de Processamento (servidor + cliente)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29800" y="4892040"/>
            <a:ext cx="4389120" cy="2971800"/>
          </a:xfrm>
          <a:prstGeom prst="roundRect">
            <a:avLst/>
          </a:prstGeom>
          <a:solidFill>
            <a:srgbClr val="F5F3FF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29184"/>
          <a:lstStyle/>
          <a:p>
            <a:pPr algn="ctr">
              <a:defRPr sz="900"/>
            </a:pPr>
            <a:r>
              <a:t>Viabilidade: ALTA (tecnicamente possivel)</a:t>
            </a:r>
          </a:p>
          <a:p>
            <a:pPr>
              <a:defRPr sz="900"/>
            </a:pPr>
          </a:p>
          <a:p>
            <a:pPr>
              <a:defRPr sz="900"/>
            </a:pPr>
            <a:r>
              <a:t>Mais simples:</a:t>
            </a:r>
          </a:p>
          <a:p>
            <a:pPr>
              <a:defRPr sz="900"/>
            </a:pPr>
            <a:r>
              <a:t>- chave manual/codigo de barras</a:t>
            </a:r>
          </a:p>
          <a:p>
            <a:pPr>
              <a:defRPr sz="900"/>
            </a:pPr>
            <a:r>
              <a:t>- tela basica de conferencia</a:t>
            </a:r>
          </a:p>
          <a:p>
            <a:pPr>
              <a:defRPr sz="900"/>
            </a:pPr>
          </a:p>
          <a:p>
            <a:pPr>
              <a:defRPr sz="900"/>
            </a:pPr>
            <a:r>
              <a:t>Media:</a:t>
            </a:r>
          </a:p>
          <a:p>
            <a:pPr>
              <a:defRPr sz="900"/>
            </a:pPr>
            <a:r>
              <a:t>- vinculacao automatica por score</a:t>
            </a:r>
          </a:p>
          <a:p>
            <a:pPr>
              <a:defRPr sz="900"/>
            </a:pPr>
            <a:r>
              <a:t>- financeiro com parcelas da NF-e</a:t>
            </a:r>
          </a:p>
          <a:p>
            <a:pPr>
              <a:defRPr sz="900"/>
            </a:pPr>
          </a:p>
          <a:p>
            <a:pPr>
              <a:defRPr sz="900"/>
            </a:pPr>
            <a:r>
              <a:t>Alta complexidade:</a:t>
            </a:r>
          </a:p>
          <a:p>
            <a:pPr>
              <a:defRPr sz="900"/>
            </a:pPr>
            <a:r>
              <a:t>- camada fiscal/SEFAZ robusta</a:t>
            </a:r>
          </a:p>
          <a:p>
            <a:pPr>
              <a:defRPr sz="900"/>
            </a:pPr>
            <a:r>
              <a:t>- paridade total com entrada nativa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829800" y="4892040"/>
            <a:ext cx="4389120" cy="30175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Viabilidade e Complexidade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7955279"/>
            <a:ext cx="13898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Proposta para discussao de viabilidade - Gestor Estoque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